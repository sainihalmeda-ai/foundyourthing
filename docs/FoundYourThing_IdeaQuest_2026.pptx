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C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4937760" cy="73152"/>
          </a:xfrm>
          <a:prstGeom prst="rect">
            <a:avLst/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Georgia"/>
              </a:rPr>
              <a:t>FoundYourThing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0B2B3"/>
                </a:solidFill>
                <a:latin typeface="Calibri"/>
              </a:rPr>
              <a:t>Privacy-first campus lost &amp; 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01752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BD57"/>
                </a:solidFill>
                <a:latin typeface="Calibri"/>
              </a:rPr>
              <a:t>Idea Quest 2026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8D0DA"/>
                </a:solidFill>
                <a:latin typeface="Calibri"/>
              </a:rPr>
              <a:t>Working prototype  ·  Android / iOS / Web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C8D0DA"/>
                </a:solidFill>
                <a:latin typeface="Calibri"/>
              </a:rPr>
              <a:t>React Native (Expo)  +  FastAPI  +  local AI matching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C8D0DA"/>
                </a:solidFill>
                <a:latin typeface="Calibri"/>
              </a:rPr>
              <a:t>College ID gate: VTU (students) · TTS (staff)</a:t>
            </a:r>
          </a:p>
        </p:txBody>
      </p:sp>
      <p:pic>
        <p:nvPicPr>
          <p:cNvPr id="8" name="Picture 7" descr="c__Users_saini_AppData_Roaming_Cursor_User_workspaceStorage_5b9b5a6442c569d41f3a54eda1c98baf_images_image-8d2e0fd5-0998-498c-80d0-a95e60ff91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22960"/>
            <a:ext cx="4923949" cy="5212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77840" y="41148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411480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LIVE PROTOTYPE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2B3"/>
                </a:solidFill>
                <a:latin typeface="Calibri"/>
              </a:rPr>
              <a:t>02  ·  Problem Statement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0F2750"/>
                </a:solidFill>
                <a:latin typeface="Georgia"/>
              </a:rPr>
              <a:t>Losing valuables on campus is normal. Getting them back is not.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5440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109728" cy="1920240"/>
          </a:xfrm>
          <a:prstGeom prst="rect">
            <a:avLst/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750"/>
                </a:solidFill>
                <a:latin typeface="Georgia"/>
              </a:rPr>
              <a:t>Scattered channels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D646F"/>
                </a:solidFill>
                <a:latin typeface="Calibri"/>
              </a:rPr>
              <a:t>WhatsApp groups, notice boards, and security desks — no single trusted 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91640"/>
            <a:ext cx="5440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691640"/>
            <a:ext cx="109728" cy="1920240"/>
          </a:xfrm>
          <a:prstGeom prst="rect">
            <a:avLst/>
          </a:prstGeom>
          <a:solidFill>
            <a:srgbClr val="EBB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116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750"/>
                </a:solidFill>
                <a:latin typeface="Georgia"/>
              </a:rPr>
              <a:t>Phone numbers leak first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D646F"/>
                </a:solidFill>
                <a:latin typeface="Calibri"/>
              </a:rPr>
              <a:t>Students post contact info publicly before knowing if the other person is genuine.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40480"/>
            <a:ext cx="5440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840480"/>
            <a:ext cx="109728" cy="1920240"/>
          </a:xfrm>
          <a:prstGeom prst="rect">
            <a:avLst/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750"/>
                </a:solidFill>
                <a:latin typeface="Georgia"/>
              </a:rPr>
              <a:t>Fake finds &amp; spam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D646F"/>
                </a:solidFill>
                <a:latin typeface="Calibri"/>
              </a:rPr>
              <a:t>Downloaded photos and low-value clutter (pens, erasers) drown real reports.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840480"/>
            <a:ext cx="5440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3840480"/>
            <a:ext cx="109728" cy="1920240"/>
          </a:xfrm>
          <a:prstGeom prst="rect">
            <a:avLst/>
          </a:prstGeom>
          <a:solidFill>
            <a:srgbClr val="EBB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1605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750"/>
                </a:solidFill>
                <a:latin typeface="Georgia"/>
              </a:rPr>
              <a:t>Manual matching fails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D646F"/>
                </a:solidFill>
                <a:latin typeface="Calibri"/>
              </a:rPr>
              <a:t>Owners scroll endlessly. Finders rarely search. Recovery stays slow.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FoundYourThing  ·  Idea Quest 2026  ·  Privacy-first campus lost &amp; found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2 / 8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2B3"/>
                </a:solidFill>
                <a:latin typeface="Calibri"/>
              </a:rPr>
              <a:t>03  ·  Proposed Solution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0F2750"/>
                </a:solidFill>
                <a:latin typeface="Georgia"/>
              </a:rPr>
              <a:t>One campus network. Trust before contact.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6492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" cy="320040"/>
          </a:xfrm>
          <a:prstGeom prst="roundRect">
            <a:avLst>
              <a:gd name="adj" fmla="val 50000"/>
            </a:avLst>
          </a:prstGeom>
          <a:solidFill>
            <a:srgbClr val="0F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32588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2750"/>
                </a:solidFill>
                <a:latin typeface="Calibri"/>
              </a:rPr>
              <a:t>Valuables only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D646F"/>
                </a:solidFill>
                <a:latin typeface="Calibri"/>
              </a:rPr>
              <a:t>Phones, laptops, watches, wallets, ID cards, bags, keys, earbuds, spectacles — stationery rejected.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6492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347472" cy="320040"/>
          </a:xfrm>
          <a:prstGeom prst="roundRect">
            <a:avLst>
              <a:gd name="adj" fmla="val 50000"/>
            </a:avLst>
          </a:prstGeom>
          <a:solidFill>
            <a:srgbClr val="0F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0312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2750"/>
                </a:solidFill>
                <a:latin typeface="Calibri"/>
              </a:rPr>
              <a:t>4-stage privacy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D646F"/>
                </a:solidFill>
                <a:latin typeface="Calibri"/>
              </a:rPr>
              <a:t>Public → Match → Claim → Connected. Phone unlocks only after mutual accept.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88920"/>
            <a:ext cx="6492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971800"/>
            <a:ext cx="347472" cy="320040"/>
          </a:xfrm>
          <a:prstGeom prst="roundRect">
            <a:avLst>
              <a:gd name="adj" fmla="val 50000"/>
            </a:avLst>
          </a:prstGeom>
          <a:solidFill>
            <a:srgbClr val="0F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7180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88036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2750"/>
                </a:solidFill>
                <a:latin typeface="Calibri"/>
              </a:rPr>
              <a:t>Local AI match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D646F"/>
                </a:solidFill>
                <a:latin typeface="Calibri"/>
              </a:rPr>
              <a:t>Image + text fingerprints on the college server. No third-party vision API required.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66160"/>
            <a:ext cx="6492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749040"/>
            <a:ext cx="347472" cy="320040"/>
          </a:xfrm>
          <a:prstGeom prst="roundRect">
            <a:avLst>
              <a:gd name="adj" fmla="val 50000"/>
            </a:avLst>
          </a:prstGeom>
          <a:solidFill>
            <a:srgbClr val="0F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4904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6576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2750"/>
                </a:solidFill>
                <a:latin typeface="Calibri"/>
              </a:rPr>
              <a:t>Symmetric claims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D646F"/>
                </a:solidFill>
                <a:latin typeface="Calibri"/>
              </a:rPr>
              <a:t>Lost owner can claim a found item — and a finder can raise a found report against a lost listing.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343400"/>
            <a:ext cx="6492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526280"/>
            <a:ext cx="347472" cy="320040"/>
          </a:xfrm>
          <a:prstGeom prst="roundRect">
            <a:avLst>
              <a:gd name="adj" fmla="val 50000"/>
            </a:avLst>
          </a:prstGeom>
          <a:solidFill>
            <a:srgbClr val="0F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2628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43484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2750"/>
                </a:solidFill>
                <a:latin typeface="Calibri"/>
              </a:rPr>
              <a:t>College ID gate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D646F"/>
                </a:solidFill>
                <a:latin typeface="Calibri"/>
              </a:rPr>
              <a:t>Only VTU… (students) and TTS… (staff) can register or log in. Outsiders blocked.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20640"/>
            <a:ext cx="6492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5303520"/>
            <a:ext cx="347472" cy="320040"/>
          </a:xfrm>
          <a:prstGeom prst="roundRect">
            <a:avLst>
              <a:gd name="adj" fmla="val 50000"/>
            </a:avLst>
          </a:prstGeom>
          <a:solidFill>
            <a:srgbClr val="0F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035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21208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2750"/>
                </a:solidFill>
                <a:latin typeface="Calibri"/>
              </a:rPr>
              <a:t>LiveGo ready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D646F"/>
                </a:solidFill>
                <a:latin typeface="Calibri"/>
              </a:rPr>
              <a:t>Optional finder photo provenance: fresh camera capture checked via EXIF + pixels.</a:t>
            </a:r>
          </a:p>
        </p:txBody>
      </p:sp>
      <p:pic>
        <p:nvPicPr>
          <p:cNvPr id="29" name="Picture 28" descr="c__Users_saini_AppData_Roaming_Cursor_User_workspaceStorage_5b9b5a6442c569d41f3a54eda1c98baf_images_image-830136c3-bcfb-4b23-bc19-9c2636e2c1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97280"/>
            <a:ext cx="6306352" cy="5029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FoundYourThing  ·  Idea Quest 2026  ·  Privacy-first campus lost &amp; found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3 / 8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2B3"/>
                </a:solidFill>
                <a:latin typeface="Calibri"/>
              </a:rPr>
              <a:t>04  ·  Architecture &amp; Workflow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0F2750"/>
                </a:solidFill>
                <a:latin typeface="Georgia"/>
              </a:rPr>
              <a:t>How a report becomes a reunion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214884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2377440" y="2103120"/>
            <a:ext cx="256032" cy="256032"/>
          </a:xfrm>
          <a:prstGeom prst="rightArrow">
            <a:avLst/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1463040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4630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18745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2750"/>
                </a:solidFill>
                <a:latin typeface="Georgia"/>
              </a:rPr>
              <a:t>Report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D646F"/>
                </a:solidFill>
                <a:latin typeface="Calibri"/>
              </a:rPr>
              <a:t>Photo + category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D646F"/>
                </a:solidFill>
                <a:latin typeface="Calibri"/>
              </a:rPr>
              <a:t>+ location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1234440"/>
            <a:ext cx="214884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709159" y="2103120"/>
            <a:ext cx="256032" cy="256032"/>
          </a:xfrm>
          <a:prstGeom prst="rightArrow">
            <a:avLst/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19" y="1463040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19" y="14630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2011680"/>
            <a:ext cx="18745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2750"/>
                </a:solidFill>
                <a:latin typeface="Georgia"/>
              </a:rPr>
              <a:t>Fingerprint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D646F"/>
                </a:solidFill>
                <a:latin typeface="Calibri"/>
              </a:rPr>
              <a:t>Local image &amp;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D646F"/>
                </a:solidFill>
                <a:latin typeface="Calibri"/>
              </a:rPr>
              <a:t>text embedding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234440"/>
            <a:ext cx="214884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040880" y="2103120"/>
            <a:ext cx="256032" cy="256032"/>
          </a:xfrm>
          <a:prstGeom prst="rightArrow">
            <a:avLst/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06440" y="1463040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4630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011680"/>
            <a:ext cx="18745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2750"/>
                </a:solidFill>
                <a:latin typeface="Georgia"/>
              </a:rPr>
              <a:t>Match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D646F"/>
                </a:solidFill>
                <a:latin typeface="Calibri"/>
              </a:rPr>
              <a:t>Score + confidence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D646F"/>
                </a:solidFill>
                <a:latin typeface="Calibri"/>
              </a:rPr>
              <a:t>label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19" y="1234440"/>
            <a:ext cx="214884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9372599" y="2103120"/>
            <a:ext cx="256032" cy="256032"/>
          </a:xfrm>
          <a:prstGeom prst="rightArrow">
            <a:avLst/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59" y="1463040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9" y="14630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011680"/>
            <a:ext cx="18745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2750"/>
                </a:solidFill>
                <a:latin typeface="Georgia"/>
              </a:rPr>
              <a:t>Claim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D646F"/>
                </a:solidFill>
                <a:latin typeface="Calibri"/>
              </a:rPr>
              <a:t>Masked name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D646F"/>
                </a:solidFill>
                <a:latin typeface="Calibri"/>
              </a:rPr>
              <a:t>request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1234440"/>
            <a:ext cx="2148840" cy="2148840"/>
          </a:xfrm>
          <a:prstGeom prst="roundRect">
            <a:avLst>
              <a:gd name="adj" fmla="val 12000"/>
            </a:avLst>
          </a:prstGeom>
          <a:solidFill>
            <a:srgbClr val="0C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469880" y="1463040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EBB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69880" y="14630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C1A32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011680"/>
            <a:ext cx="18745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Connect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C8D0DA"/>
                </a:solidFill>
                <a:latin typeface="Calibri"/>
              </a:rPr>
              <a:t>Phone shared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C8D0DA"/>
                </a:solidFill>
                <a:latin typeface="Calibri"/>
              </a:rPr>
              <a:t>after accept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749039"/>
            <a:ext cx="111556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97763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2750"/>
                </a:solidFill>
                <a:latin typeface="Georgia"/>
              </a:rPr>
              <a:t>System map (kept simple)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434839"/>
            <a:ext cx="2606040" cy="132588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71999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B2B3"/>
                </a:solidFill>
                <a:latin typeface="Calibri"/>
              </a:rPr>
              <a:t>Mobile / Web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Expo SDK 54 · React Native · TypeScript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Android · iOS · Browser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66160" y="4434839"/>
            <a:ext cx="2606040" cy="132588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4571999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B2B3"/>
                </a:solidFill>
                <a:latin typeface="Calibri"/>
              </a:rPr>
              <a:t>API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Python FastAPI · JWT sessions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Valuables policy · Campus ID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79" y="4434839"/>
            <a:ext cx="2606040" cy="132588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39" y="4571999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B2B3"/>
                </a:solidFill>
                <a:latin typeface="Calibri"/>
              </a:rPr>
              <a:t>Intelligence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NumPy image + text embeddings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Honest match confidence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3999" y="4434839"/>
            <a:ext cx="2606040" cy="132588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59" y="4571999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B2B3"/>
                </a:solidFill>
                <a:latin typeface="Calibri"/>
              </a:rPr>
              <a:t>Data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SQLite (dev) → PostgreSQL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Photos on server 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FoundYourThing  ·  Idea Quest 2026  ·  Privacy-first campus lost &amp; found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4 / 8</a:t>
            </a:r>
          </a:p>
        </p:txBody>
      </p:sp>
    </p:spTree>
  </p:cSld>
  <p:transition spd="med" advClick="1">
    <p:push dir="l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2B3"/>
                </a:solidFill>
                <a:latin typeface="Calibri"/>
              </a:rPr>
              <a:t>05  ·  Expected Impact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0F2750"/>
                </a:solidFill>
                <a:latin typeface="Georgia"/>
              </a:rPr>
              <a:t>Faster recovery. Less exposure. Cleaner campus feeds.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74320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743200" cy="109728"/>
          </a:xfrm>
          <a:prstGeom prst="rect">
            <a:avLst/>
          </a:prstGeom>
          <a:solidFill>
            <a:srgbClr val="3BB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750"/>
                </a:solidFill>
                <a:latin typeface="Georgia"/>
              </a:rPr>
              <a:t>Students &amp; staff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D646F"/>
                </a:solidFill>
                <a:latin typeface="Calibri"/>
              </a:rPr>
              <a:t>One place to report and claim valuables without posting phone numbers in public groups.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74320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743200" cy="109728"/>
          </a:xfrm>
          <a:prstGeom prst="rect">
            <a:avLst/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750"/>
                </a:solidFill>
                <a:latin typeface="Georgia"/>
              </a:rPr>
              <a:t>Privacy by design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D646F"/>
                </a:solidFill>
                <a:latin typeface="Calibri"/>
              </a:rPr>
              <a:t>Contact details unlock in stages — phone only after both parties accept.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274320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2743200" cy="109728"/>
          </a:xfrm>
          <a:prstGeom prst="rect">
            <a:avLst/>
          </a:prstGeom>
          <a:solidFill>
            <a:srgbClr val="EBB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750"/>
                </a:solidFill>
                <a:latin typeface="Georgia"/>
              </a:rPr>
              <a:t>Less fraud noise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D646F"/>
                </a:solidFill>
                <a:latin typeface="Calibri"/>
              </a:rPr>
              <a:t>Valuables-only policy + optional LiveGo camera checks reduce fake found posts.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371600"/>
            <a:ext cx="274320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0" y="1371600"/>
            <a:ext cx="2743200" cy="109728"/>
          </a:xfrm>
          <a:prstGeom prst="rect">
            <a:avLst/>
          </a:prstGeom>
          <a:solidFill>
            <a:srgbClr val="0F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82880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750"/>
                </a:solidFill>
                <a:latin typeface="Georgia"/>
              </a:rPr>
              <a:t>Institution ready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D646F"/>
                </a:solidFill>
                <a:latin typeface="Calibri"/>
              </a:rPr>
              <a:t>VTU/TTS ID gate keeps the network closed to the college community.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54880"/>
            <a:ext cx="11155680" cy="1325880"/>
          </a:xfrm>
          <a:prstGeom prst="roundRect">
            <a:avLst>
              <a:gd name="adj" fmla="val 12000"/>
            </a:avLst>
          </a:prstGeom>
          <a:solidFill>
            <a:srgbClr val="0C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0B2B3"/>
                </a:solidFill>
                <a:latin typeface="Georgia"/>
              </a:rPr>
              <a:t>4 stages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privacy disclosure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9377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0B2B3"/>
                </a:solidFill>
                <a:latin typeface="Georgia"/>
              </a:rPr>
              <a:t>1 codebase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Android · iOS · 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9377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0B2B3"/>
                </a:solidFill>
                <a:latin typeface="Georgia"/>
              </a:rPr>
              <a:t>0 cloud AI bill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on-campus 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49377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0B2B3"/>
                </a:solidFill>
                <a:latin typeface="Georgia"/>
              </a:rPr>
              <a:t>10 min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secure sessions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FoundYourThing  ·  Idea Quest 2026  ·  Privacy-first campus lost &amp; found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5 / 8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2B3"/>
                </a:solidFill>
                <a:latin typeface="Calibri"/>
              </a:rPr>
              <a:t>06  ·  Feasibility &amp; Implementation Plan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0F2750"/>
                </a:solidFill>
                <a:latin typeface="Georgia"/>
              </a:rPr>
              <a:t>Already built. Next: harden and deploy.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5486400" cy="4846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BB974"/>
                </a:solidFill>
                <a:latin typeface="Georgia"/>
              </a:rPr>
              <a:t>Completed (prototype)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D646F"/>
                </a:solidFill>
                <a:latin typeface="Calibri"/>
              </a:rPr>
              <a:t>●  Auth: register / login / refresh with VTU·TTS validation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D646F"/>
                </a:solidFill>
                <a:latin typeface="Calibri"/>
              </a:rPr>
              <a:t>●  Report lost &amp; found with photo upload + categories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D646F"/>
                </a:solidFill>
                <a:latin typeface="Calibri"/>
              </a:rPr>
              <a:t>●  Campus feed with Lost / Found / My items + search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D646F"/>
                </a:solidFill>
                <a:latin typeface="Calibri"/>
              </a:rPr>
              <a:t>●  AI match scores with confidence labels (Strong / Weak)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D646F"/>
                </a:solidFill>
                <a:latin typeface="Calibri"/>
              </a:rPr>
              <a:t>●  Claims: against-found and against-lost (two-way)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D646F"/>
                </a:solidFill>
                <a:latin typeface="Calibri"/>
              </a:rPr>
              <a:t>●  Privacy disclosure enforced server-side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D646F"/>
                </a:solidFill>
                <a:latin typeface="Calibri"/>
              </a:rPr>
              <a:t>●  Cross-device UI (phone + laptop browser)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D646F"/>
                </a:solidFill>
                <a:latin typeface="Calibri"/>
              </a:rPr>
              <a:t>●  LiveGo feature flag for finder photo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88720"/>
            <a:ext cx="5394960" cy="4846320"/>
          </a:xfrm>
          <a:prstGeom prst="roundRect">
            <a:avLst>
              <a:gd name="adj" fmla="val 12000"/>
            </a:avLst>
          </a:prstGeom>
          <a:solidFill>
            <a:srgbClr val="0C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BBD57"/>
                </a:solidFill>
                <a:latin typeface="Georgia"/>
              </a:rPr>
              <a:t>Next 8–10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659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B2B3"/>
                </a:solidFill>
                <a:latin typeface="Calibri"/>
              </a:rPr>
              <a:t>Week 1–2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Pilot Postgres + cloud photo storage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0B2B3"/>
                </a:solidFill>
                <a:latin typeface="Calibri"/>
              </a:rPr>
              <a:t>Week 3–4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Upgrade matching to CLIP / vision model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0B2B3"/>
                </a:solidFill>
                <a:latin typeface="Calibri"/>
              </a:rPr>
              <a:t>Week 5–6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Push notifications for new matches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0B2B3"/>
                </a:solidFill>
                <a:latin typeface="Calibri"/>
              </a:rPr>
              <a:t>Week 7–8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College pilot with 1–2 departments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0B2B3"/>
                </a:solidFill>
                <a:latin typeface="Calibri"/>
              </a:rPr>
              <a:t>Week 9–10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Admin dashboard for staff (TTS)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FoundYourThing  ·  Idea Quest 2026  ·  Privacy-first campus lost &amp;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6 / 8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2B3"/>
                </a:solidFill>
                <a:latin typeface="Calibri"/>
              </a:rPr>
              <a:t>07  ·  Scalability &amp; Future Scope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0F2750"/>
                </a:solidFill>
                <a:latin typeface="Georgia"/>
              </a:rPr>
              <a:t>From one campus to a college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61188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611880" cy="640080"/>
          </a:xfrm>
          <a:prstGeom prst="rect">
            <a:avLst/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Near-term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154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0">
                <a:solidFill>
                  <a:srgbClr val="5D646F"/>
                </a:solidFill>
                <a:latin typeface="Calibri"/>
              </a:rPr>
              <a:t>→  PostgreSQL + object storage for photos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5D646F"/>
                </a:solidFill>
                <a:latin typeface="Calibri"/>
              </a:rPr>
              <a:t>→  Real vision model for category checks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5D646F"/>
                </a:solidFill>
                <a:latin typeface="Calibri"/>
              </a:rPr>
              <a:t>→  Push alerts on match / claim / accept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5D646F"/>
                </a:solidFill>
                <a:latin typeface="Calibri"/>
              </a:rPr>
              <a:t>→  Staff admin view for TTS accounts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61188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3611880" cy="640080"/>
          </a:xfrm>
          <a:prstGeom prst="rect">
            <a:avLst/>
          </a:prstGeom>
          <a:solidFill>
            <a:srgbClr val="EBB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32588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Medium-term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3154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0">
                <a:solidFill>
                  <a:srgbClr val="5D646F"/>
                </a:solidFill>
                <a:latin typeface="Calibri"/>
              </a:rPr>
              <a:t>→  QR handoff at pickup desk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5D646F"/>
                </a:solidFill>
                <a:latin typeface="Calibri"/>
              </a:rPr>
              <a:t>→  Multi-campus feeds with college codes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5D646F"/>
                </a:solidFill>
                <a:latin typeface="Calibri"/>
              </a:rPr>
              <a:t>→  Heatmaps of loss hotspots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5D646F"/>
                </a:solidFill>
                <a:latin typeface="Calibri"/>
              </a:rPr>
              <a:t>→  SSO with official college identity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234440"/>
            <a:ext cx="361188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234440"/>
            <a:ext cx="3611880" cy="640080"/>
          </a:xfrm>
          <a:prstGeom prst="rect">
            <a:avLst/>
          </a:prstGeom>
          <a:solidFill>
            <a:srgbClr val="0F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32588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Long-term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154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0">
                <a:solidFill>
                  <a:srgbClr val="5D646F"/>
                </a:solidFill>
                <a:latin typeface="Calibri"/>
              </a:rPr>
              <a:t>→  Inter-college recovery network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5D646F"/>
                </a:solidFill>
                <a:latin typeface="Calibri"/>
              </a:rPr>
              <a:t>→  Fraud reputation signals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5D646F"/>
                </a:solidFill>
                <a:latin typeface="Calibri"/>
              </a:rPr>
              <a:t>→  Offline-first campus Wi-Fi mode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5D646F"/>
                </a:solidFill>
                <a:latin typeface="Calibri"/>
              </a:rPr>
              <a:t>→  Open API for hostel / transport desks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FoundYourThing  ·  Idea Quest 2026  ·  Privacy-first campus lost &amp; found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7 / 8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2B3"/>
                </a:solidFill>
                <a:latin typeface="Calibri"/>
              </a:rPr>
              <a:t>08  ·  Demo / Prototype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0F2750"/>
                </a:solidFill>
                <a:latin typeface="Georgia"/>
              </a:rPr>
              <a:t>Running today — web, Android Expo Go, iOS Expo 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370332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_Users_saini_AppData_Roaming_Cursor_User_workspaceStorage_5b9b5a6442c569d41f3a54eda1c98baf_images_image-8d2e0fd5-0998-498c-80d0-a95e60ff91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051560"/>
            <a:ext cx="3474720" cy="36780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16636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F2750"/>
                </a:solidFill>
                <a:latin typeface="Calibri"/>
              </a:rPr>
              <a:t>Sign in · VTU / TTS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960120"/>
            <a:ext cx="370332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__Users_saini_AppData_Roaming_Cursor_User_workspaceStorage_5b9b5a6442c569d41f3a54eda1c98baf_images_image-4dddd929-f1be-44b5-8010-6583211f17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051560"/>
            <a:ext cx="3474720" cy="33504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7680" y="516636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F2750"/>
                </a:solidFill>
                <a:latin typeface="Calibri"/>
              </a:rPr>
              <a:t>Join campus network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960120"/>
            <a:ext cx="370332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__Users_saini_AppData_Roaming_Cursor_User_workspaceStorage_5b9b5a6442c569d41f3a54eda1c98baf_images_image-9df50ba5-f482-4067-97eb-3b09dd5de9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7" y="1051560"/>
            <a:ext cx="3474720" cy="33183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83879" y="516636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F2750"/>
                </a:solidFill>
                <a:latin typeface="Calibri"/>
              </a:rPr>
              <a:t>Report found valuable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623560"/>
            <a:ext cx="11155680" cy="640080"/>
          </a:xfrm>
          <a:prstGeom prst="roundRect">
            <a:avLst>
              <a:gd name="adj" fmla="val 12000"/>
            </a:avLst>
          </a:prstGeom>
          <a:solidFill>
            <a:srgbClr val="0C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7424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Demo path: Register (VTU/TTS) → Report lost/found → Browse campus feed → Raise claim → Accept → Phone unlocks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FoundYourThing  ·  Idea Quest 2026  ·  Privacy-first campus lost &amp; found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D646F"/>
                </a:solidFill>
                <a:latin typeface="Calibri"/>
              </a:rPr>
              <a:t>8 / 8</a:t>
            </a:r>
          </a:p>
        </p:txBody>
      </p:sp>
    </p:spTree>
  </p:cSld>
  <p:transition spd="med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