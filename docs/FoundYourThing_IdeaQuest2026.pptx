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D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731520"/>
            <a:ext cx="2011680" cy="2011680"/>
          </a:xfrm>
          <a:prstGeom prst="ellipse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4114800"/>
            <a:ext cx="1645920" cy="1645920"/>
          </a:xfrm>
          <a:prstGeom prst="ellipse">
            <a:avLst/>
          </a:prstGeom>
          <a:solidFill>
            <a:srgbClr val="D6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FOUND YOUR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AI-Powered Privacy-First Campus Lost &amp; Found</a:t>
            </a:r>
          </a:p>
          <a:p>
            <a:pPr algn="ctr">
              <a:defRPr sz="1600">
                <a:solidFill>
                  <a:srgbClr val="D6F6F5"/>
                </a:solidFill>
              </a:defRPr>
            </a:pPr>
            <a:r>
              <a:t>(Lost on campus. Found by intelligence.)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Meda Sai Nihal  ·  CSE  ·  AI &amp; Data Science</a:t>
            </a:r>
          </a:p>
          <a:p>
            <a:pPr algn="ctr">
              <a:defRPr sz="1500">
                <a:solidFill>
                  <a:srgbClr val="FFFFFF"/>
                </a:solidFill>
              </a:defRPr>
            </a:pPr>
            <a:r>
              <a:t>SDG 11  ·  Idea Quest 2026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Problem Statement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Campus lost &amp; found is broken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5146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39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148840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B4D89"/>
                </a:solidFill>
              </a:defRPr>
            </a:pPr>
            <a:r>
              <a:t>Lost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606039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27D98"/>
                </a:solidFill>
              </a:defRPr>
            </a:pPr>
            <a:r>
              <a:t>Phones, watches, IDs go missing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554480"/>
            <a:ext cx="25146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691639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148840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B4D89"/>
                </a:solidFill>
              </a:defRPr>
            </a:pPr>
            <a:r>
              <a:t>Too Slow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606039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27D98"/>
                </a:solidFill>
              </a:defRPr>
            </a:pPr>
            <a:r>
              <a:t>WhatsApp &amp; notice boards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25146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691639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148840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B4D89"/>
                </a:solidFill>
              </a:defRPr>
            </a:pPr>
            <a:r>
              <a:t>No Privacy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06039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27D98"/>
                </a:solidFill>
              </a:defRPr>
            </a:pPr>
            <a:r>
              <a:t>Phone numbers shared publicly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554480"/>
            <a:ext cx="25146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691639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🗑️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331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500">
                <a:solidFill>
                  <a:srgbClr val="1B4D89"/>
                </a:solidFill>
              </a:defRPr>
            </a:pPr>
            <a:r>
              <a:t>Noise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606039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27D98"/>
                </a:solidFill>
              </a:defRPr>
            </a:pPr>
            <a:r>
              <a:t>Pens &amp; pencils clutter the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3977639"/>
            <a:ext cx="8138160" cy="868680"/>
          </a:xfrm>
          <a:prstGeom prst="roundRect">
            <a:avLst/>
          </a:prstGeom>
          <a:solidFill>
            <a:srgbClr val="F5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Students need a faster, smarter &amp; safer way to recover valuables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12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1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20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Proposed Solution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FoundYourThing — AI + Privacy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1B4D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FoundYourThing</a:t>
            </a:r>
            <a:br/>
            <a:r>
              <a:t>AI Match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103120" cy="141732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📸</a:t>
            </a:r>
            <a:br/>
            <a:r>
              <a:t>Photo</a:t>
            </a:r>
            <a:br/>
            <a:r>
              <a:t>Report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1828800"/>
            <a:ext cx="2103120" cy="141732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🤖</a:t>
            </a:r>
            <a:br/>
            <a:r>
              <a:t>AI</a:t>
            </a:r>
            <a:br/>
            <a:r>
              <a:t>Matching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206240"/>
            <a:ext cx="2103120" cy="141732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🪪</a:t>
            </a:r>
            <a:br/>
            <a:r>
              <a:t>VTU ID</a:t>
            </a:r>
            <a:br/>
            <a:r>
              <a:t>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4206240"/>
            <a:ext cx="2103120" cy="141732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✅</a:t>
            </a:r>
            <a:br/>
            <a:r>
              <a:t>Mutual</a:t>
            </a:r>
            <a:br/>
            <a:r>
              <a:t>Consent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468880"/>
            <a:ext cx="1554480" cy="45720"/>
          </a:xfrm>
          <a:prstGeom prst="line">
            <a:avLst/>
          </a:prstGeom>
          <a:ln>
            <a:solidFill>
              <a:srgbClr val="627D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572000" y="2468880"/>
            <a:ext cx="2743200" cy="45720"/>
          </a:xfrm>
          <a:prstGeom prst="line">
            <a:avLst/>
          </a:prstGeom>
          <a:ln>
            <a:solidFill>
              <a:srgbClr val="627D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017520" y="2514600"/>
            <a:ext cx="1554480" cy="2057400"/>
          </a:xfrm>
          <a:prstGeom prst="line">
            <a:avLst/>
          </a:prstGeom>
          <a:ln>
            <a:solidFill>
              <a:srgbClr val="627D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4572000" y="2514600"/>
            <a:ext cx="2743200" cy="2057400"/>
          </a:xfrm>
          <a:prstGeom prst="line">
            <a:avLst/>
          </a:prstGeom>
          <a:ln>
            <a:solidFill>
              <a:srgbClr val="627D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200400" y="5532120"/>
            <a:ext cx="5760720" cy="594360"/>
          </a:xfrm>
          <a:prstGeom prst="round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4D89"/>
                </a:solidFill>
              </a:defRPr>
            </a:pPr>
            <a:r>
              <a:t>Valuables only  ·  No pens or pencils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05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0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7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13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Architecture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Visual system design — not just 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00400" cy="2011680"/>
          </a:xfrm>
          <a:prstGeom prst="roundRect">
            <a:avLst/>
          </a:prstGeom>
          <a:solidFill>
            <a:srgbClr val="1B4D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📲 Mobile App</a:t>
            </a:r>
            <a:br/>
            <a:br/>
            <a:r>
              <a:t>Expo · Android</a:t>
            </a:r>
            <a:br/>
            <a:r>
              <a:t>iOS · Web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828800"/>
            <a:ext cx="3200400" cy="2011680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⚡ API Layer</a:t>
            </a:r>
            <a:br/>
            <a:br/>
            <a:r>
              <a:t>FastAPI · Auth</a:t>
            </a:r>
            <a:br/>
            <a:r>
              <a:t>Items · Claims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828800"/>
            <a:ext cx="3200400" cy="2011680"/>
          </a:xfrm>
          <a:prstGeom prst="round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🧠 AI + Data</a:t>
            </a:r>
            <a:br/>
            <a:br/>
            <a:r>
              <a:t>Embeddings</a:t>
            </a:r>
            <a:br/>
            <a:r>
              <a:t>SQLite / DB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2697480"/>
            <a:ext cx="502920" cy="22860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726679" y="2697480"/>
            <a:ext cx="502920" cy="22860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389120"/>
            <a:ext cx="22860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4D89"/>
                </a:solidFill>
              </a:defRPr>
            </a:pPr>
            <a:r>
              <a:t>Image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389120"/>
            <a:ext cx="22860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4D89"/>
                </a:solidFill>
              </a:defRPr>
            </a:pPr>
            <a:r>
              <a:t>Text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89120"/>
            <a:ext cx="22860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4D89"/>
                </a:solidFill>
              </a:defRPr>
            </a:pPr>
            <a:r>
              <a:t>Privacy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4389120"/>
            <a:ext cx="22860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4D89"/>
                </a:solidFill>
              </a:defRPr>
            </a:pPr>
            <a:r>
              <a:t>Uploads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5486400"/>
            <a:ext cx="685800" cy="685800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263640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02A43"/>
                </a:solidFill>
              </a:defRPr>
            </a:pPr>
            <a:r>
              <a:t>Report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965960" y="5715000"/>
            <a:ext cx="411480" cy="18288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94760" y="5486400"/>
            <a:ext cx="685800" cy="685800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6263640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02A43"/>
                </a:solidFill>
              </a:defRPr>
            </a:pPr>
            <a:r>
              <a:t>Match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572000" y="5715000"/>
            <a:ext cx="411480" cy="18288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5486400"/>
            <a:ext cx="685800" cy="685800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6263640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02A43"/>
                </a:solidFill>
              </a:defRPr>
            </a:pPr>
            <a:r>
              <a:t>Claim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8040" y="5715000"/>
            <a:ext cx="411480" cy="18288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006840" y="5486400"/>
            <a:ext cx="685800" cy="685800"/>
          </a:xfrm>
          <a:prstGeom prst="ellipse">
            <a:avLst/>
          </a:prstGeom>
          <a:solidFill>
            <a:srgbClr val="1B4D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263640"/>
            <a:ext cx="1325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02A43"/>
                </a:solidFill>
              </a:defRPr>
            </a:pPr>
            <a:r>
              <a:t>Connect</a:t>
            </a:r>
          </a:p>
        </p:txBody>
      </p:sp>
    </p:spTree>
  </p:cSld>
  <p:clrMapOvr>
    <a:masterClrMapping/>
  </p:clrMapOvr>
  <p:transition spd="med">
    <p:wipe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5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0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09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10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11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12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13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14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7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19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20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22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23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Expected Impact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Why this matters on campus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2514600" cy="2926080"/>
          </a:xfrm>
          <a:prstGeom prst="round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4D89"/>
                </a:solidFill>
              </a:defRPr>
            </a:pPr>
            <a:r>
              <a:t>Faster Recovery</a:t>
            </a:r>
            <a:br/>
            <a:br/>
            <a:r>
              <a:t>AI match</a:t>
            </a:r>
            <a:br/>
            <a:r>
              <a:t>in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/>
            </a:pPr>
            <a:r>
              <a:t>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514600" cy="2926080"/>
          </a:xfrm>
          <a:prstGeom prst="roundRect">
            <a:avLst/>
          </a:prstGeom>
          <a:solidFill>
            <a:srgbClr val="D6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Safe Contact</a:t>
            </a:r>
            <a:br/>
            <a:br/>
            <a:r>
              <a:t>Phone after</a:t>
            </a:r>
            <a:br/>
            <a:r>
              <a:t>consent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6596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/>
            </a:pPr>
            <a:r>
              <a:t>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79" y="1828800"/>
            <a:ext cx="2514600" cy="2926080"/>
          </a:xfrm>
          <a:prstGeom prst="round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B4D89"/>
                </a:solidFill>
              </a:defRPr>
            </a:pPr>
            <a:r>
              <a:t>SDG 11</a:t>
            </a:r>
            <a:br/>
            <a:br/>
            <a:r>
              <a:t>Better campus</a:t>
            </a:r>
            <a:br/>
            <a:r>
              <a:t>community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96596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/>
            </a:pPr>
            <a:r>
              <a:t>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3999" y="1828800"/>
            <a:ext cx="2514600" cy="2926080"/>
          </a:xfrm>
          <a:prstGeom prst="roundRect">
            <a:avLst/>
          </a:prstGeom>
          <a:solidFill>
            <a:srgbClr val="D6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2A43"/>
                </a:solidFill>
              </a:defRPr>
            </a:pPr>
            <a:r>
              <a:t>Less Waste</a:t>
            </a:r>
            <a:br/>
            <a:br/>
            <a:r>
              <a:t>Fewer replaced</a:t>
            </a:r>
            <a:br/>
            <a:r>
              <a:t>valuables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999" y="1965960"/>
            <a:ext cx="2514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/>
            </a:pPr>
            <a:r>
              <a:t>♻️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ly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6" dur="indefinite" nodeType="withEffect">
                      <p:stCondLst>
                        <p:cond delay="200"/>
                      </p:stCondLst>
                      <p:childTnLst>
                        <p:animEffect transition="in" filter="fly">
                          <p:cBhvr>
                            <p:cTn dur="6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ly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10" dur="indefinite" nodeType="withEffect">
                      <p:stCondLst>
                        <p:cond delay="200"/>
                      </p:stCondLst>
                      <p:childTnLst>
                        <p:animEffect transition="in" filter="fly">
                          <p:cBhvr>
                            <p:cTn dur="600" fill="hold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Feasibility &amp; Plan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Phased rollout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4480" y="1965960"/>
            <a:ext cx="777240" cy="777240"/>
          </a:xfrm>
          <a:prstGeom prst="ellipse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2514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27D98"/>
                </a:solidFill>
              </a:defRPr>
            </a:pPr>
            <a:r>
              <a:t>Phase 1</a:t>
            </a:r>
          </a:p>
          <a:p>
            <a:pPr algn="ctr">
              <a:defRPr sz="1500" b="1">
                <a:solidFill>
                  <a:srgbClr val="1B4D89"/>
                </a:solidFill>
              </a:defRPr>
            </a:pPr>
            <a:r>
              <a:t>Core App</a:t>
            </a:r>
          </a:p>
          <a:p>
            <a:pPr algn="ctr">
              <a:defRPr sz="1300" b="0">
                <a:solidFill>
                  <a:srgbClr val="102A43"/>
                </a:solidFill>
              </a:defRPr>
            </a:pPr>
            <a:r>
              <a:t>Auth · Reports</a:t>
            </a:r>
            <a:br/>
            <a:r>
              <a:t>AI MVP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91840" y="324612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43400" y="1965960"/>
            <a:ext cx="777240" cy="777240"/>
          </a:xfrm>
          <a:prstGeom prst="ellipse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834640"/>
            <a:ext cx="2514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27D98"/>
                </a:solidFill>
              </a:defRPr>
            </a:pPr>
            <a:r>
              <a:t>Phase 2</a:t>
            </a:r>
          </a:p>
          <a:p>
            <a:pPr algn="ctr">
              <a:defRPr sz="1500" b="1">
                <a:solidFill>
                  <a:srgbClr val="1B4D89"/>
                </a:solidFill>
              </a:defRPr>
            </a:pPr>
            <a:r>
              <a:t>Better AI</a:t>
            </a:r>
          </a:p>
          <a:p>
            <a:pPr algn="ctr">
              <a:defRPr sz="1300" b="0">
                <a:solidFill>
                  <a:srgbClr val="102A43"/>
                </a:solidFill>
              </a:defRPr>
            </a:pPr>
            <a:r>
              <a:t>CLIP · Accuracy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80760" y="324612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0" y="1965960"/>
            <a:ext cx="777240" cy="777240"/>
          </a:xfrm>
          <a:prstGeom prst="ellipse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34640"/>
            <a:ext cx="2514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27D98"/>
                </a:solidFill>
              </a:defRPr>
            </a:pPr>
            <a:r>
              <a:t>Phase 3</a:t>
            </a:r>
          </a:p>
          <a:p>
            <a:pPr algn="ctr">
              <a:defRPr sz="1500" b="1">
                <a:solidFill>
                  <a:srgbClr val="1B4D89"/>
                </a:solidFill>
              </a:defRPr>
            </a:pPr>
            <a:r>
              <a:t>Campus</a:t>
            </a:r>
          </a:p>
          <a:p>
            <a:pPr algn="ctr">
              <a:defRPr sz="1300" b="0">
                <a:solidFill>
                  <a:srgbClr val="102A43"/>
                </a:solidFill>
              </a:defRPr>
            </a:pPr>
            <a:r>
              <a:t>Alerts · VTU API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324612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52559" y="1828800"/>
            <a:ext cx="25146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39" y="1965960"/>
            <a:ext cx="777240" cy="777240"/>
          </a:xfrm>
          <a:prstGeom prst="ellipse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2834640"/>
            <a:ext cx="2514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627D98"/>
                </a:solidFill>
              </a:defRPr>
            </a:pPr>
            <a:r>
              <a:t>Phase 4</a:t>
            </a:r>
          </a:p>
          <a:p>
            <a:pPr algn="ctr">
              <a:defRPr sz="1500" b="1">
                <a:solidFill>
                  <a:srgbClr val="1B4D89"/>
                </a:solidFill>
              </a:defRPr>
            </a:pPr>
            <a:r>
              <a:t>Scale</a:t>
            </a:r>
          </a:p>
          <a:p>
            <a:pPr algn="ctr">
              <a:defRPr sz="1300" b="0">
                <a:solidFill>
                  <a:srgbClr val="102A43"/>
                </a:solidFill>
              </a:defRPr>
            </a:pPr>
            <a:r>
              <a:t>Admin · Cloud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12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1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Future Scope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Where FoundYourThing can grow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00200"/>
            <a:ext cx="5029200" cy="86868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🔔 Push alerts (valuables only)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600200"/>
            <a:ext cx="5029200" cy="86868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🏛️ College SSO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80"/>
            <a:ext cx="5029200" cy="86868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📊 Admin analytics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926080"/>
            <a:ext cx="5029200" cy="86868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🌐 Multi-campus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51960"/>
            <a:ext cx="5029200" cy="86868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🏷️ QR tags on 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51960"/>
            <a:ext cx="5029200" cy="868680"/>
          </a:xfrm>
          <a:prstGeom prst="roundRect">
            <a:avLst/>
          </a:prstGeom>
          <a:solidFill>
            <a:srgbClr val="D6F6F5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102A43"/>
                </a:solidFill>
              </a:defRPr>
            </a:pPr>
            <a:r>
              <a:t>🛡️ Auto-blur ID card photos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5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0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7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9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D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Demo / Prototype</a:t>
            </a:r>
          </a:p>
          <a:p>
            <a:pPr>
              <a:defRPr sz="1400">
                <a:solidFill>
                  <a:srgbClr val="D6F6F5"/>
                </a:solidFill>
              </a:defRPr>
            </a:pPr>
            <a:r>
              <a:t>Working application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1965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4D89"/>
                </a:solidFill>
              </a:defRPr>
            </a:pPr>
            <a:r>
              <a:t>Login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34640" y="251460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2103120"/>
            <a:ext cx="1965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4D89"/>
                </a:solidFill>
              </a:defRPr>
            </a:pPr>
            <a:r>
              <a:t>Report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74920" y="251460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03520" y="2103120"/>
            <a:ext cx="1965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4D89"/>
                </a:solidFill>
              </a:defRPr>
            </a:pPr>
            <a:r>
              <a:t>Feed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315200" y="251460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43800" y="2103120"/>
            <a:ext cx="1965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4D89"/>
                </a:solidFill>
              </a:defRPr>
            </a:pPr>
            <a:r>
              <a:t>AI Match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555480" y="2514600"/>
            <a:ext cx="320040" cy="201168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0" y="2103120"/>
            <a:ext cx="1965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4D89"/>
                </a:solidFill>
              </a:defRPr>
            </a:pPr>
            <a:r>
              <a:t>Claim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657600"/>
            <a:ext cx="5212080" cy="1371600"/>
          </a:xfrm>
          <a:prstGeom prst="round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Expo Mobile  +  Web  +  Python 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34924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Next slides → Add your prototype screenshots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restart="never" nodeType="tmRoot">
          <p:childTnLst>
            <p:seq concurrent="1" nextAc="seek">
              <p:cTn id="1" dur="indefinite" nodeType="mainSeq">
                <p:childTnLst>
                  <p:par>
                    <p:cTn id="104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6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8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10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12" dur="indefinite" nodeType="withEffect">
                      <p:stCondLst>
                        <p:cond delay="20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  <p:seq concurrent="1" nextAc="seek">
              <p:cTn id="1" dur="indefinite" nodeType="mainSeq">
                <p:childTnLst>
                  <p:par>
                    <p:cTn id="113" dur="indefinite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dur="600" fill="hold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Prototype Screenshot 1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Insert your app image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508760"/>
            <a:ext cx="941832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91640" y="1828800"/>
            <a:ext cx="8778240" cy="3794760"/>
          </a:xfrm>
          <a:prstGeom prst="rect">
            <a:avLst/>
          </a:prstGeom>
          <a:solidFill>
            <a:srgbClr val="E6F0FF"/>
          </a:solidFill>
          <a:ln w="25400">
            <a:solidFill>
              <a:srgbClr val="0EA5A4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3291840"/>
            <a:ext cx="7589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27D98"/>
                </a:solidFill>
              </a:defRPr>
            </a:pPr>
            <a:r>
              <a:t>[ ADD PHOTO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98932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27D98"/>
                </a:solidFill>
              </a:defRPr>
            </a:pPr>
            <a:r>
              <a:t>Home screen · Report Lost · Login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4D89"/>
                </a:solidFill>
              </a:defRPr>
            </a:pPr>
            <a:r>
              <a:t>Prototype Screenshot 2</a:t>
            </a:r>
          </a:p>
          <a:p>
            <a:pPr>
              <a:defRPr sz="1400">
                <a:solidFill>
                  <a:srgbClr val="627D98"/>
                </a:solidFill>
              </a:defRPr>
            </a:pPr>
            <a:r>
              <a:t>Insert your app image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508760"/>
            <a:ext cx="941832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91640" y="1828800"/>
            <a:ext cx="8778240" cy="3794760"/>
          </a:xfrm>
          <a:prstGeom prst="rect">
            <a:avLst/>
          </a:prstGeom>
          <a:solidFill>
            <a:srgbClr val="E6F0FF"/>
          </a:solidFill>
          <a:ln w="25400">
            <a:solidFill>
              <a:srgbClr val="0EA5A4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3291840"/>
            <a:ext cx="7589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627D98"/>
                </a:solidFill>
              </a:defRPr>
            </a:pPr>
            <a:r>
              <a:t>[ ADD PHOTO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98932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27D98"/>
                </a:solidFill>
              </a:defRPr>
            </a:pPr>
            <a:r>
              <a:t>AI Match · Claim flow · Contact share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